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5400" b="1"/>
            </a:pPr>
            <a:r>
              <a:t>ビジネス領域選定実践プログラム</a:t>
            </a:r>
          </a:p>
        </p:txBody>
      </p:sp>
      <p:sp>
        <p:nvSpPr>
          <p:cNvPr id="3" name="Subtitle 2"/>
          <p:cNvSpPr>
            <a:spLocks noGrp="1"/>
          </p:cNvSpPr>
          <p:nvPr>
            <p:ph type="subTitle" idx="1"/>
          </p:nvPr>
        </p:nvSpPr>
        <p:spPr/>
        <p:txBody>
          <a:bodyPr/>
          <a:lstStyle/>
          <a:p>
            <a:pPr>
              <a:defRPr sz="3200"/>
            </a:pPr>
            <a:r>
              <a:t>自分が本当に取り組むべき大きな領域を見つける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タイトル</a:t>
            </a:r>
          </a:p>
        </p:txBody>
      </p:sp>
      <p:sp>
        <p:nvSpPr>
          <p:cNvPr id="3" name="Content Placeholder 2"/>
          <p:cNvSpPr>
            <a:spLocks noGrp="1"/>
          </p:cNvSpPr>
          <p:nvPr>
            <p:ph idx="1"/>
          </p:nvPr>
        </p:nvSpPr>
        <p:spPr/>
        <p:txBody>
          <a:bodyPr wrap="square"/>
          <a:lstStyle/>
          <a:p/>
          <a:p>
            <a:pPr>
              <a:spcAft>
                <a:spcPts val="1200"/>
              </a:spcAft>
              <a:defRPr sz="2400"/>
            </a:pPr>
            <a:r>
              <a:t>こんにちは。今日は、ビジネス領域選定実践プログラムについてお話しします</a:t>
            </a:r>
          </a:p>
          <a:p>
            <a:pPr>
              <a:spcAft>
                <a:spcPts val="1200"/>
              </a:spcAft>
              <a:defRPr sz="2400"/>
            </a:pPr>
            <a:r>
              <a:t>自分が本当に取り組むべき大きな領域を見つけていきましょう</a:t>
            </a:r>
          </a:p>
          <a:p>
            <a:pPr>
              <a:spcAft>
                <a:spcPts val="1200"/>
              </a:spcAft>
              <a:defRPr sz="2400"/>
            </a:pPr>
            <a:r>
              <a:t>この領域選定が、その後のすべての基盤になります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原則1：市場規模は大きい方がいい</a:t>
            </a:r>
          </a:p>
        </p:txBody>
      </p:sp>
      <p:sp>
        <p:nvSpPr>
          <p:cNvPr id="3" name="Content Placeholder 2"/>
          <p:cNvSpPr>
            <a:spLocks noGrp="1"/>
          </p:cNvSpPr>
          <p:nvPr>
            <p:ph idx="1"/>
          </p:nvPr>
        </p:nvSpPr>
        <p:spPr/>
        <p:txBody>
          <a:bodyPr wrap="square"/>
          <a:lstStyle/>
          <a:p/>
          <a:p>
            <a:pPr>
              <a:spcAft>
                <a:spcPts val="1200"/>
              </a:spcAft>
              <a:defRPr sz="2400"/>
            </a:pPr>
            <a:r>
              <a:t>領域選定をする上で、4つの原則があります</a:t>
            </a:r>
          </a:p>
          <a:p>
            <a:pPr>
              <a:spcAft>
                <a:spcPts val="1200"/>
              </a:spcAft>
              <a:defRPr sz="2400"/>
            </a:pPr>
            <a:r>
              <a:t>1つ目は、市場規模は大きい方がいい、ということです</a:t>
            </a:r>
          </a:p>
          <a:p>
            <a:pPr>
              <a:spcAft>
                <a:spcPts val="1200"/>
              </a:spcAft>
              <a:defRPr sz="2400"/>
            </a:pPr>
            <a:r>
              <a:t>ここでよくある誤解があるんです。『すでにすごい人がいるから、自分には無理だ』って思う人が多いんですが</a:t>
            </a:r>
          </a:p>
          <a:p>
            <a:pPr>
              <a:spcAft>
                <a:spcPts val="1200"/>
              </a:spcAft>
              <a:defRPr sz="2400"/>
            </a:pPr>
            <a:r>
              <a:t>実は、逆なんです。競合が多いということは、それだけ需要があるってことなんです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差別化について</a:t>
            </a:r>
          </a:p>
        </p:txBody>
      </p:sp>
      <p:sp>
        <p:nvSpPr>
          <p:cNvPr id="3" name="Content Placeholder 2"/>
          <p:cNvSpPr>
            <a:spLocks noGrp="1"/>
          </p:cNvSpPr>
          <p:nvPr>
            <p:ph idx="1"/>
          </p:nvPr>
        </p:nvSpPr>
        <p:spPr/>
        <p:txBody>
          <a:bodyPr wrap="square"/>
          <a:lstStyle/>
          <a:p/>
          <a:p>
            <a:pPr>
              <a:spcAft>
                <a:spcPts val="1200"/>
              </a:spcAft>
              <a:defRPr sz="2400"/>
            </a:pPr>
            <a:r>
              <a:t>差別化について、よく質問されます</a:t>
            </a:r>
          </a:p>
          <a:p>
            <a:pPr>
              <a:spcAft>
                <a:spcPts val="1200"/>
              </a:spcAft>
              <a:defRPr sz="2400"/>
            </a:pPr>
            <a:r>
              <a:t>『同じジャンルで、差別化できないんじゃないか』って心配する人が多いんです</a:t>
            </a:r>
          </a:p>
          <a:p>
            <a:pPr>
              <a:spcAft>
                <a:spcPts val="1200"/>
              </a:spcAft>
              <a:defRPr sz="2400"/>
            </a:pPr>
            <a:r>
              <a:t>でも、実は最初から差別化できてなくても大丈夫なんです</a:t>
            </a:r>
          </a:p>
          <a:p>
            <a:pPr>
              <a:spcAft>
                <a:spcPts val="1200"/>
              </a:spcAft>
              <a:defRPr sz="2400"/>
            </a:pPr>
            <a:r>
              <a:t>差別化って、いきなり完全に変えるものじゃなくて、小さな積み重ねで作っていくものなんです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COREの法則</a:t>
            </a:r>
          </a:p>
        </p:txBody>
      </p:sp>
      <p:sp>
        <p:nvSpPr>
          <p:cNvPr id="3" name="Content Placeholder 2"/>
          <p:cNvSpPr>
            <a:spLocks noGrp="1"/>
          </p:cNvSpPr>
          <p:nvPr>
            <p:ph idx="1"/>
          </p:nvPr>
        </p:nvSpPr>
        <p:spPr/>
        <p:txBody>
          <a:bodyPr wrap="square"/>
          <a:lstStyle/>
          <a:p/>
          <a:p>
            <a:pPr>
              <a:spcAft>
                <a:spcPts val="1200"/>
              </a:spcAft>
              <a:defRPr sz="2400"/>
            </a:pPr>
            <a:r>
              <a:t>COREの法則、これはすごく重要です</a:t>
            </a:r>
          </a:p>
          <a:p>
            <a:pPr>
              <a:spcAft>
                <a:spcPts val="1200"/>
              </a:spcAft>
              <a:defRPr sz="2400"/>
            </a:pPr>
            <a:r>
              <a:t>人間が生きていく上で、絶対に必要になる4つの領域があります</a:t>
            </a:r>
          </a:p>
          <a:p>
            <a:pPr>
              <a:spcAft>
                <a:spcPts val="1200"/>
              </a:spcAft>
              <a:defRPr sz="2400"/>
            </a:pPr>
            <a:r>
              <a:t>この4つの領域に基づく領域は、すごく強いです</a:t>
            </a:r>
          </a:p>
          <a:p>
            <a:pPr>
              <a:spcAft>
                <a:spcPts val="1200"/>
              </a:spcAft>
              <a:defRPr sz="2400"/>
            </a:pPr>
            <a:r>
              <a:t>COREの法則に基づく市場というのは、なくなりません。人間の根本的な欲求なので、なくならないんです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原則2：COREの法則に基づくこと</a:t>
            </a:r>
          </a:p>
        </p:txBody>
      </p:sp>
      <p:sp>
        <p:nvSpPr>
          <p:cNvPr id="3" name="Content Placeholder 2"/>
          <p:cNvSpPr>
            <a:spLocks noGrp="1"/>
          </p:cNvSpPr>
          <p:nvPr>
            <p:ph idx="1"/>
          </p:nvPr>
        </p:nvSpPr>
        <p:spPr/>
        <p:txBody>
          <a:bodyPr wrap="square"/>
          <a:lstStyle/>
          <a:p/>
          <a:p>
            <a:pPr>
              <a:spcAft>
                <a:spcPts val="1200"/>
              </a:spcAft>
              <a:defRPr sz="2400"/>
            </a:pPr>
            <a:r>
              <a:t>原則2は、COREの法則に基づくことです</a:t>
            </a:r>
          </a:p>
          <a:p>
            <a:pPr>
              <a:spcAft>
                <a:spcPts val="1200"/>
              </a:spcAft>
              <a:defRPr sz="2400"/>
            </a:pPr>
            <a:r>
              <a:t>必ずこの4つの中にはまるようなジャンルの切り口で領域を選ぶというのが大事です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原則3：成長産業であること</a:t>
            </a:r>
          </a:p>
        </p:txBody>
      </p:sp>
      <p:sp>
        <p:nvSpPr>
          <p:cNvPr id="3" name="Content Placeholder 2"/>
          <p:cNvSpPr>
            <a:spLocks noGrp="1"/>
          </p:cNvSpPr>
          <p:nvPr>
            <p:ph idx="1"/>
          </p:nvPr>
        </p:nvSpPr>
        <p:spPr/>
        <p:txBody>
          <a:bodyPr wrap="square"/>
          <a:lstStyle/>
          <a:p/>
          <a:p>
            <a:pPr>
              <a:spcAft>
                <a:spcPts val="1200"/>
              </a:spcAft>
              <a:defRPr sz="2400"/>
            </a:pPr>
            <a:r>
              <a:t>原則3は、成長産業であることです</a:t>
            </a:r>
          </a:p>
          <a:p>
            <a:pPr>
              <a:spcAft>
                <a:spcPts val="1200"/>
              </a:spcAft>
              <a:defRPr sz="2400"/>
            </a:pPr>
            <a:r>
              <a:t>市場が縮小している産業は避けたいです</a:t>
            </a:r>
          </a:p>
          <a:p>
            <a:pPr>
              <a:spcAft>
                <a:spcPts val="1200"/>
              </a:spcAft>
              <a:defRPr sz="2400"/>
            </a:pPr>
            <a:r>
              <a:t>でも、COREに基づいていれば基本的に大丈夫です</a:t>
            </a:r>
          </a:p>
          <a:p>
            <a:pPr>
              <a:spcAft>
                <a:spcPts val="1200"/>
              </a:spcAft>
              <a:defRPr sz="2400"/>
            </a:pPr>
            <a:r>
              <a:t>COREの法則に基づく領域であれば、基本的に成長産業です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原則4：経験があること</a:t>
            </a:r>
          </a:p>
        </p:txBody>
      </p:sp>
      <p:sp>
        <p:nvSpPr>
          <p:cNvPr id="3" name="Content Placeholder 2"/>
          <p:cNvSpPr>
            <a:spLocks noGrp="1"/>
          </p:cNvSpPr>
          <p:nvPr>
            <p:ph idx="1"/>
          </p:nvPr>
        </p:nvSpPr>
        <p:spPr/>
        <p:txBody>
          <a:bodyPr wrap="square"/>
          <a:lstStyle/>
          <a:p/>
          <a:p>
            <a:pPr>
              <a:spcAft>
                <a:spcPts val="1200"/>
              </a:spcAft>
              <a:defRPr sz="2400"/>
            </a:pPr>
            <a:r>
              <a:t>原則4は、経験があることです</a:t>
            </a:r>
          </a:p>
          <a:p>
            <a:pPr>
              <a:spcAft>
                <a:spcPts val="1200"/>
              </a:spcAft>
              <a:defRPr sz="2400"/>
            </a:pPr>
            <a:r>
              <a:t>これ、結構大事なんです</a:t>
            </a:r>
          </a:p>
          <a:p>
            <a:pPr>
              <a:spcAft>
                <a:spcPts val="1200"/>
              </a:spcAft>
              <a:defRPr sz="2400"/>
            </a:pPr>
            <a:r>
              <a:t>自分の好きなこと、得意なことが大事です</a:t>
            </a:r>
          </a:p>
          <a:p>
            <a:pPr>
              <a:spcAft>
                <a:spcPts val="1200"/>
              </a:spcAft>
              <a:defRPr sz="2400"/>
            </a:pPr>
            <a:r>
              <a:t>リファレンスがあるジャンル、つまり実績や経験としてあるところ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需要と好きなことの掛け合わせ</a:t>
            </a:r>
          </a:p>
        </p:txBody>
      </p:sp>
      <p:sp>
        <p:nvSpPr>
          <p:cNvPr id="3" name="Content Placeholder 2"/>
          <p:cNvSpPr>
            <a:spLocks noGrp="1"/>
          </p:cNvSpPr>
          <p:nvPr>
            <p:ph idx="1"/>
          </p:nvPr>
        </p:nvSpPr>
        <p:spPr/>
        <p:txBody>
          <a:bodyPr wrap="square"/>
          <a:lstStyle/>
          <a:p/>
          <a:p>
            <a:pPr>
              <a:spcAft>
                <a:spcPts val="1200"/>
              </a:spcAft>
              <a:defRPr sz="2400"/>
            </a:pPr>
            <a:r>
              <a:t>需要と好きなことの掛け合わせ、これが重要です</a:t>
            </a:r>
          </a:p>
          <a:p>
            <a:pPr>
              <a:spcAft>
                <a:spcPts val="1200"/>
              </a:spcAft>
              <a:defRPr sz="2400"/>
            </a:pPr>
            <a:r>
              <a:t>市場の需要をかけ合わせることによって、スイートスポットというのができます</a:t>
            </a:r>
          </a:p>
          <a:p>
            <a:pPr>
              <a:spcAft>
                <a:spcPts val="1200"/>
              </a:spcAft>
              <a:defRPr sz="2400"/>
            </a:pPr>
            <a:r>
              <a:t>需要だけで考えてしまうと、ビジネスは続かないです</a:t>
            </a:r>
          </a:p>
          <a:p>
            <a:pPr>
              <a:spcAft>
                <a:spcPts val="1200"/>
              </a:spcAft>
              <a:defRPr sz="2400"/>
            </a:pPr>
            <a:r>
              <a:t>需要が一番大事なんだけど、需要だけでは続かない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よくある悩み</a:t>
            </a:r>
          </a:p>
        </p:txBody>
      </p:sp>
      <p:sp>
        <p:nvSpPr>
          <p:cNvPr id="3" name="Content Placeholder 2"/>
          <p:cNvSpPr>
            <a:spLocks noGrp="1"/>
          </p:cNvSpPr>
          <p:nvPr>
            <p:ph idx="1"/>
          </p:nvPr>
        </p:nvSpPr>
        <p:spPr/>
        <p:txBody>
          <a:bodyPr wrap="square"/>
          <a:lstStyle/>
          <a:p/>
          <a:p>
            <a:pPr>
              <a:spcAft>
                <a:spcPts val="1200"/>
              </a:spcAft>
              <a:defRPr sz="2400"/>
            </a:pPr>
            <a:r>
              <a:t>1つ目は、ジャンルは分かってるけど、権威性がないから無理、という悩みです</a:t>
            </a:r>
          </a:p>
          <a:p>
            <a:pPr>
              <a:spcAft>
                <a:spcPts val="1200"/>
              </a:spcAft>
              <a:defRPr sz="2400"/>
            </a:pPr>
            <a:r>
              <a:t>自分自身は経験しているんだけれど、権威性と実績がありません</a:t>
            </a:r>
          </a:p>
          <a:p>
            <a:pPr>
              <a:spcAft>
                <a:spcPts val="1200"/>
              </a:spcAft>
              <a:defRPr sz="2400"/>
            </a:pPr>
            <a:r>
              <a:t>2つ目は、自分も経験したんだけど、それを教えることに不安、という悩みです</a:t>
            </a:r>
          </a:p>
          <a:p>
            <a:pPr>
              <a:spcAft>
                <a:spcPts val="1200"/>
              </a:spcAft>
              <a:defRPr sz="2400"/>
            </a:pPr>
            <a:r>
              <a:t>自分はうまくいったんだけど、それを教えて再現性があるか不安</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解決策：権威性は作っていくもの</a:t>
            </a:r>
          </a:p>
        </p:txBody>
      </p:sp>
      <p:sp>
        <p:nvSpPr>
          <p:cNvPr id="3" name="Content Placeholder 2"/>
          <p:cNvSpPr>
            <a:spLocks noGrp="1"/>
          </p:cNvSpPr>
          <p:nvPr>
            <p:ph idx="1"/>
          </p:nvPr>
        </p:nvSpPr>
        <p:spPr/>
        <p:txBody>
          <a:bodyPr wrap="square"/>
          <a:lstStyle/>
          <a:p/>
          <a:p>
            <a:pPr>
              <a:spcAft>
                <a:spcPts val="1200"/>
              </a:spcAft>
              <a:defRPr sz="2400"/>
            </a:pPr>
            <a:r>
              <a:t>解決策です。権威性は作っていくものなんです</a:t>
            </a:r>
          </a:p>
          <a:p>
            <a:pPr>
              <a:spcAft>
                <a:spcPts val="1200"/>
              </a:spcAft>
              <a:defRPr sz="2400"/>
            </a:pPr>
            <a:r>
              <a:t>権威性というのは、もともとあるものではない。作っていくものなんです</a:t>
            </a:r>
          </a:p>
          <a:p>
            <a:pPr>
              <a:spcAft>
                <a:spcPts val="1200"/>
              </a:spcAft>
              <a:defRPr sz="2400"/>
            </a:pPr>
            <a:r>
              <a:t>権威性がないからこそ、権威性をつけていくだけです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再現性の担保</a:t>
            </a:r>
          </a:p>
        </p:txBody>
      </p:sp>
      <p:sp>
        <p:nvSpPr>
          <p:cNvPr id="3" name="Content Placeholder 2"/>
          <p:cNvSpPr>
            <a:spLocks noGrp="1"/>
          </p:cNvSpPr>
          <p:nvPr>
            <p:ph idx="1"/>
          </p:nvPr>
        </p:nvSpPr>
        <p:spPr/>
        <p:txBody>
          <a:bodyPr wrap="square"/>
          <a:lstStyle/>
          <a:p/>
          <a:p>
            <a:pPr>
              <a:spcAft>
                <a:spcPts val="1200"/>
              </a:spcAft>
              <a:defRPr sz="2400"/>
            </a:pPr>
            <a:r>
              <a:t>実績がないことの最大の武器、それは再現性の担保です</a:t>
            </a:r>
          </a:p>
          <a:p>
            <a:pPr>
              <a:spcAft>
                <a:spcPts val="1200"/>
              </a:spcAft>
              <a:defRPr sz="2400"/>
            </a:pPr>
            <a:r>
              <a:t>実績が強い人は、実績という面では強いんだけど、再現性の部分が弱くなります</a:t>
            </a:r>
          </a:p>
          <a:p>
            <a:pPr>
              <a:spcAft>
                <a:spcPts val="1200"/>
              </a:spcAft>
              <a:defRPr sz="2400"/>
            </a:pPr>
            <a:r>
              <a:t>特殊条件が生まれてしまうため、再現性が低くなります</a:t>
            </a:r>
          </a:p>
          <a:p>
            <a:pPr>
              <a:spcAft>
                <a:spcPts val="1200"/>
              </a:spcAft>
              <a:defRPr sz="2400"/>
            </a:pPr>
            <a:r>
              <a:t>でも、実績がない状態で成果を出した人は、再現性が担保できるんです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情報統合とは</a:t>
            </a:r>
          </a:p>
        </p:txBody>
      </p:sp>
      <p:sp>
        <p:nvSpPr>
          <p:cNvPr id="3" name="Content Placeholder 2"/>
          <p:cNvSpPr>
            <a:spLocks noGrp="1"/>
          </p:cNvSpPr>
          <p:nvPr>
            <p:ph idx="1"/>
          </p:nvPr>
        </p:nvSpPr>
        <p:spPr/>
        <p:txBody>
          <a:bodyPr wrap="square"/>
          <a:lstStyle/>
          <a:p/>
          <a:p>
            <a:pPr>
              <a:spcAft>
                <a:spcPts val="1200"/>
              </a:spcAft>
              <a:defRPr sz="2400"/>
            </a:pPr>
            <a:r>
              <a:t>情報統合という考え方、これも重要です</a:t>
            </a:r>
          </a:p>
          <a:p>
            <a:pPr>
              <a:spcAft>
                <a:spcPts val="1200"/>
              </a:spcAft>
              <a:defRPr sz="2400"/>
            </a:pPr>
            <a:r>
              <a:t>情報統合とは、情報を収集して、ギュッとまとめる作業のことです</a:t>
            </a:r>
          </a:p>
          <a:p>
            <a:pPr>
              <a:spcAft>
                <a:spcPts val="1200"/>
              </a:spcAft>
              <a:defRPr sz="2400"/>
            </a:pPr>
            <a:r>
              <a:t>多くの商品は情報統合でできています</a:t>
            </a:r>
          </a:p>
          <a:p>
            <a:pPr>
              <a:spcAft>
                <a:spcPts val="1200"/>
              </a:spcAft>
              <a:defRPr sz="2400"/>
            </a:pPr>
            <a:r>
              <a:t>経験と情報統合で商品を作ることができます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情報統合が成り立つ理由</a:t>
            </a:r>
          </a:p>
        </p:txBody>
      </p:sp>
      <p:sp>
        <p:nvSpPr>
          <p:cNvPr id="3" name="Content Placeholder 2"/>
          <p:cNvSpPr>
            <a:spLocks noGrp="1"/>
          </p:cNvSpPr>
          <p:nvPr>
            <p:ph idx="1"/>
          </p:nvPr>
        </p:nvSpPr>
        <p:spPr/>
        <p:txBody>
          <a:bodyPr wrap="square"/>
          <a:lstStyle/>
          <a:p/>
          <a:p>
            <a:pPr>
              <a:spcAft>
                <a:spcPts val="1200"/>
              </a:spcAft>
              <a:defRPr sz="2400"/>
            </a:pPr>
            <a:r>
              <a:t>情報統合が成り立つ理由、お話しします</a:t>
            </a:r>
          </a:p>
          <a:p>
            <a:pPr>
              <a:spcAft>
                <a:spcPts val="1200"/>
              </a:spcAft>
              <a:defRPr sz="2400"/>
            </a:pPr>
            <a:r>
              <a:t>お客様の需要を満たすために商品を作るんですから、商品の中身は、お客様のゴールを達成できれば何でもいいんです</a:t>
            </a:r>
          </a:p>
          <a:p>
            <a:pPr>
              <a:spcAft>
                <a:spcPts val="1200"/>
              </a:spcAft>
              <a:defRPr sz="2400"/>
            </a:pPr>
            <a:r>
              <a:t>情報をギュッと圧縮して、まとめてあることで価値が生まれます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最初は情報統合でOK</a:t>
            </a:r>
          </a:p>
        </p:txBody>
      </p:sp>
      <p:sp>
        <p:nvSpPr>
          <p:cNvPr id="3" name="Content Placeholder 2"/>
          <p:cNvSpPr>
            <a:spLocks noGrp="1"/>
          </p:cNvSpPr>
          <p:nvPr>
            <p:ph idx="1"/>
          </p:nvPr>
        </p:nvSpPr>
        <p:spPr/>
        <p:txBody>
          <a:bodyPr wrap="square"/>
          <a:lstStyle/>
          <a:p/>
          <a:p>
            <a:pPr>
              <a:spcAft>
                <a:spcPts val="1200"/>
              </a:spcAft>
              <a:defRPr sz="2400"/>
            </a:pPr>
            <a:r>
              <a:t>自分の経験と情報統合をメインに作っていけば、独自コンテンツなので十分です</a:t>
            </a:r>
          </a:p>
          <a:p>
            <a:pPr>
              <a:spcAft>
                <a:spcPts val="1200"/>
              </a:spcAft>
              <a:defRPr sz="2400"/>
            </a:pPr>
            <a:r>
              <a:t>需要を満たすように情報統合すれば、全く問題ないです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定量分析で答え合わせ</a:t>
            </a:r>
          </a:p>
        </p:txBody>
      </p:sp>
      <p:sp>
        <p:nvSpPr>
          <p:cNvPr id="3" name="Content Placeholder 2"/>
          <p:cNvSpPr>
            <a:spLocks noGrp="1"/>
          </p:cNvSpPr>
          <p:nvPr>
            <p:ph idx="1"/>
          </p:nvPr>
        </p:nvSpPr>
        <p:spPr/>
        <p:txBody>
          <a:bodyPr wrap="square"/>
          <a:lstStyle/>
          <a:p/>
          <a:p>
            <a:pPr>
              <a:spcAft>
                <a:spcPts val="1200"/>
              </a:spcAft>
              <a:defRPr sz="2400"/>
            </a:pPr>
            <a:r>
              <a:t>定量分析で答え合わせ、これが重要です</a:t>
            </a:r>
          </a:p>
          <a:p>
            <a:pPr>
              <a:spcAft>
                <a:spcPts val="1200"/>
              </a:spcAft>
              <a:defRPr sz="2400"/>
            </a:pPr>
            <a:r>
              <a:t>選んだ領域が正しいかどうか、確認方法は2つだけです</a:t>
            </a:r>
          </a:p>
          <a:p>
            <a:pPr>
              <a:spcAft>
                <a:spcPts val="1200"/>
              </a:spcAft>
              <a:defRPr sz="2400"/>
            </a:pPr>
            <a:r>
              <a:t>1つ目は、ライバルがいるかどうか</a:t>
            </a:r>
          </a:p>
          <a:p>
            <a:pPr>
              <a:spcAft>
                <a:spcPts val="1200"/>
              </a:spcAft>
              <a:defRPr sz="2400"/>
            </a:pPr>
            <a:r>
              <a:t>需要がないんです。ないですから、当たり前ですよね</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確認方法1：ライバルがいるかどうか</a:t>
            </a:r>
          </a:p>
        </p:txBody>
      </p:sp>
      <p:sp>
        <p:nvSpPr>
          <p:cNvPr id="3" name="Content Placeholder 2"/>
          <p:cNvSpPr>
            <a:spLocks noGrp="1"/>
          </p:cNvSpPr>
          <p:nvPr>
            <p:ph idx="1"/>
          </p:nvPr>
        </p:nvSpPr>
        <p:spPr/>
        <p:txBody>
          <a:bodyPr wrap="square"/>
          <a:lstStyle/>
          <a:p/>
          <a:p>
            <a:pPr>
              <a:spcAft>
                <a:spcPts val="1200"/>
              </a:spcAft>
              <a:defRPr sz="2400"/>
            </a:pPr>
            <a:r>
              <a:t>確認方法1、ライバルがいるかどうかです</a:t>
            </a:r>
          </a:p>
          <a:p>
            <a:pPr>
              <a:spcAft>
                <a:spcPts val="1200"/>
              </a:spcAft>
              <a:defRPr sz="2400"/>
            </a:pPr>
            <a:r>
              <a:t>ライバルがいる市場というのは、選んだ領域でいきます</a:t>
            </a:r>
          </a:p>
          <a:p>
            <a:pPr>
              <a:spcAft>
                <a:spcPts val="1200"/>
              </a:spcAft>
              <a:defRPr sz="2400"/>
            </a:pPr>
            <a:r>
              <a:t>ライバルがないというのは、基本的には正しい領域とは言えません</a:t>
            </a:r>
          </a:p>
          <a:p>
            <a:pPr>
              <a:spcAft>
                <a:spcPts val="1200"/>
              </a:spcAft>
              <a:defRPr sz="2400"/>
            </a:pPr>
            <a:r>
              <a:t>情報発信者が多ければ多いほど、市場の需要というのは大きいんです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確認方法2：どれくらい売れているか</a:t>
            </a:r>
          </a:p>
        </p:txBody>
      </p:sp>
      <p:sp>
        <p:nvSpPr>
          <p:cNvPr id="3" name="Content Placeholder 2"/>
          <p:cNvSpPr>
            <a:spLocks noGrp="1"/>
          </p:cNvSpPr>
          <p:nvPr>
            <p:ph idx="1"/>
          </p:nvPr>
        </p:nvSpPr>
        <p:spPr/>
        <p:txBody>
          <a:bodyPr wrap="square"/>
          <a:lstStyle/>
          <a:p/>
          <a:p>
            <a:pPr>
              <a:spcAft>
                <a:spcPts val="1200"/>
              </a:spcAft>
              <a:defRPr sz="2400"/>
            </a:pPr>
            <a:r>
              <a:t>確認方法2、どれくらい売れているかです</a:t>
            </a:r>
          </a:p>
          <a:p>
            <a:pPr>
              <a:spcAft>
                <a:spcPts val="1200"/>
              </a:spcAft>
              <a:defRPr sz="2400"/>
            </a:pPr>
            <a:r>
              <a:t>売れている人がいるか、いないのかという基準が大事です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領域選定のフレームワーク</a:t>
            </a:r>
          </a:p>
        </p:txBody>
      </p:sp>
      <p:sp>
        <p:nvSpPr>
          <p:cNvPr id="3" name="Content Placeholder 2"/>
          <p:cNvSpPr>
            <a:spLocks noGrp="1"/>
          </p:cNvSpPr>
          <p:nvPr>
            <p:ph idx="1"/>
          </p:nvPr>
        </p:nvSpPr>
        <p:spPr/>
        <p:txBody>
          <a:bodyPr wrap="square"/>
          <a:lstStyle/>
          <a:p/>
          <a:p>
            <a:pPr>
              <a:spcAft>
                <a:spcPts val="1200"/>
              </a:spcAft>
              <a:defRPr sz="2400"/>
            </a:pPr>
            <a:r>
              <a:t>領域選定のフレームワーク、4つの質問に答えることで、領域を選定できます</a:t>
            </a:r>
          </a:p>
          <a:p>
            <a:pPr>
              <a:spcAft>
                <a:spcPts val="1200"/>
              </a:spcAft>
              <a:defRPr sz="2400"/>
            </a:pPr>
            <a:r>
              <a:t>3つ目は、領域に競合がいるのか</a:t>
            </a:r>
          </a:p>
          <a:p>
            <a:pPr>
              <a:spcAft>
                <a:spcPts val="1200"/>
              </a:spcAft>
              <a:defRPr sz="2400"/>
            </a:pPr>
            <a:r>
              <a:t>4つ目は、最終的に領域で売れているのか</a:t>
            </a:r>
          </a:p>
          <a:p>
            <a:pPr>
              <a:spcAft>
                <a:spcPts val="1200"/>
              </a:spcAft>
              <a:defRPr sz="2400"/>
            </a:pPr>
            <a:r>
              <a:t>領域は、ストレートにやりたいジャンルで、COREに当てはまっていれば大丈夫です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まとめ</a:t>
            </a:r>
          </a:p>
        </p:txBody>
      </p:sp>
      <p:sp>
        <p:nvSpPr>
          <p:cNvPr id="3" name="Content Placeholder 2"/>
          <p:cNvSpPr>
            <a:spLocks noGrp="1"/>
          </p:cNvSpPr>
          <p:nvPr>
            <p:ph idx="1"/>
          </p:nvPr>
        </p:nvSpPr>
        <p:spPr/>
        <p:txBody>
          <a:bodyPr wrap="square"/>
          <a:lstStyle/>
          <a:p/>
          <a:p>
            <a:pPr>
              <a:spcAft>
                <a:spcPts val="1200"/>
              </a:spcAft>
              <a:defRPr sz="2400"/>
            </a:pPr>
            <a:r>
              <a:t>まとめです</a:t>
            </a:r>
          </a:p>
          <a:p>
            <a:pPr>
              <a:spcAft>
                <a:spcPts val="1200"/>
              </a:spcAft>
              <a:defRPr sz="2400"/>
            </a:pPr>
            <a:r>
              <a:t>領域選定の4つの原則：市場規模、COREの法則、成長産業、経験</a:t>
            </a:r>
          </a:p>
          <a:p>
            <a:pPr>
              <a:spcAft>
                <a:spcPts val="1200"/>
              </a:spcAft>
              <a:defRPr sz="2400"/>
            </a:pPr>
            <a:r>
              <a:t>よくある悩みの解決策：権威性は作っていくもの、再現性の担保、情報統合</a:t>
            </a:r>
          </a:p>
          <a:p>
            <a:pPr>
              <a:spcAft>
                <a:spcPts val="1200"/>
              </a:spcAft>
              <a:defRPr sz="2400"/>
            </a:pPr>
            <a:r>
              <a:t>定量分析で答え合わせ：ライバルがいるか、どれくらい売れているか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